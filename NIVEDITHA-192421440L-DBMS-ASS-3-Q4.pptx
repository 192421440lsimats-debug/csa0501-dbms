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0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3D860-421B-4971-B201-1BEFFB9011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F4980-F3A8-6F54-F9E3-7289FDA63B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8E42D-40E5-2EC8-FB82-615B79555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68BF5-2600-4E56-B190-E34459990F00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B8F73-F17A-DCC8-81BD-39B3A2F7C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00753-300C-9C22-0F1C-DCD6389CE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1B6D7-FBD4-4628-AB89-ABA08281A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958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7D2B5-2550-4593-CD98-3FE33DD1C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E1455-4BBF-39FE-40D5-12CAC70F0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C5AD6-D5CA-A999-B6C6-4941F3597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68BF5-2600-4E56-B190-E34459990F00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B8B5C-739A-4CBE-287B-C9284D596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84340-7486-F112-51CF-992EEFC4A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1B6D7-FBD4-4628-AB89-ABA08281A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428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49E5C-B078-C099-FE97-E838FE1F9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7C8311-2991-61EB-7DCB-DC58BC7756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A4C0D-FACD-1C0F-1FE0-1572C759A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68BF5-2600-4E56-B190-E34459990F00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979DF-700A-C813-5402-7934FB370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0B966-18EA-570A-BE54-EFB3CB6F0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1B6D7-FBD4-4628-AB89-ABA08281A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507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5D922-CD5E-1944-1F1D-5137FC853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E5E99-32DA-9423-7D87-C184C41AF6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FCF81A-1FEF-B13C-65EC-642E3A7A03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5340C-80D0-D568-EBC0-00E12E764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68BF5-2600-4E56-B190-E34459990F00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E4745-BF6A-BCF6-55C9-FB5AE3BBB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86407E-77E5-F92B-647B-83874964E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1B6D7-FBD4-4628-AB89-ABA08281A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171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4193D-3C47-3DFE-FF22-946ABD14A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FE0EA-0E56-8B87-ED6F-97C3B0241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C4E0EB-97AA-01EF-B7F9-65653A539B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A6FB81-527C-C9E5-7CF6-FF1DBEA26C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793F49-9CF1-0026-3C53-AE9917C76E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16E474-5C48-D836-8C81-F9C60B587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68BF5-2600-4E56-B190-E34459990F00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4ED56D-DE6D-D9A0-F59D-C9ABF1089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556167-1AE0-C6DB-2C9E-412AE16FD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1B6D7-FBD4-4628-AB89-ABA08281A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086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54FAD-EA91-529C-8451-49C5F33BC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EC92C-F846-E930-E994-F2970E892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68BF5-2600-4E56-B190-E34459990F00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26E2EA-3A18-0FC8-0112-7F0E8FE1F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241376-6233-C56C-6393-98D112BE0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1B6D7-FBD4-4628-AB89-ABA08281A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757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E5753D-3507-8DF5-BC21-C7801528C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68BF5-2600-4E56-B190-E34459990F00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1CA98A-1C51-A21D-F75F-782B82154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DA22DB-F5CB-7A18-D9AD-F6441BAC2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1B6D7-FBD4-4628-AB89-ABA08281A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4996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F1B79-020E-1A16-D2BD-A265D5289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CA3CB-0353-EE23-5464-1DA1DF596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F0FBDB-8569-38FD-89F0-E50AA75A9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B1F964-64CB-DFAF-8BCD-11FEB56C7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68BF5-2600-4E56-B190-E34459990F00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CC3AB8-CE7D-5D5D-21A5-4DC8E4EB0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93B1FD-ECFC-EF6B-18BC-53E03029A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1B6D7-FBD4-4628-AB89-ABA08281A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5290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CD8ED-FA85-013E-6277-50549D4F0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C3EBF0-65FB-2A51-616E-C1D9D5AE5D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208E77-19E1-02C5-4FD6-5569F10812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FF4762-C8EB-7F08-B0C0-8707AEB6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68BF5-2600-4E56-B190-E34459990F00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034827-44AE-8303-A7EC-3D80FA751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E3B79-CBD6-840D-2818-ABAA84CB7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1B6D7-FBD4-4628-AB89-ABA08281A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165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1674D-5BD4-9829-C104-1379112F5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0DC461-0636-392F-5F13-EDAEAFEE06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7BED4-D85F-F5B9-EA3E-4479A924E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68BF5-2600-4E56-B190-E34459990F00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BF8BD-427D-290A-0D35-E19D478AF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950A4-B260-E51A-F3C7-82CC34F8D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1B6D7-FBD4-4628-AB89-ABA08281A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104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15E6E7-F019-F150-61DC-B7D2F66C15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9392D3-615D-EAB2-1F56-2D587D4D91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5AF64-C298-8BAA-481B-66E6658E7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68BF5-2600-4E56-B190-E34459990F00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4B7E1-685B-15D8-7F1E-C0FFA9E1C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8C7EA-7A36-5A23-35C8-D29BBC5EE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1B6D7-FBD4-4628-AB89-ABA08281A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3055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24A114-5A97-3853-9F58-7669DD60D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61E80E-7D55-BD77-464F-1497E17A9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77F33-ED89-D7C5-26F6-C8994A4F44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C68BF5-2600-4E56-B190-E34459990F00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74F6A-97F3-E2B1-BC61-80A1BA2625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07358-0597-26B2-79F4-0449898C64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F1B6D7-FBD4-4628-AB89-ABA08281A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000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A94D5-44C8-0658-86BD-28212A05B6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7680" y="226378"/>
            <a:ext cx="11216640" cy="1117917"/>
          </a:xfrm>
        </p:spPr>
        <p:txBody>
          <a:bodyPr>
            <a:normAutofit fontScale="90000"/>
          </a:bodyPr>
          <a:lstStyle/>
          <a:p>
            <a:pPr algn="l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Deliver a presentation explaining the three-level ANSI/SPARC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using diagrams and practical examples.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D791D1-23A3-497C-A7CF-208FF0357E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5360" y="1563624"/>
            <a:ext cx="9144000" cy="3840480"/>
          </a:xfrm>
        </p:spPr>
        <p:txBody>
          <a:bodyPr>
            <a:normAutofit lnSpcReduction="10000"/>
          </a:bodyPr>
          <a:lstStyle/>
          <a:p>
            <a:pPr algn="l">
              <a:lnSpc>
                <a:spcPct val="100000"/>
              </a:lnSpc>
            </a:pPr>
            <a:r>
              <a:rPr lang="en-IN" sz="2800" dirty="0"/>
              <a:t>Introduction to ANSI/SPARC Architecture</a:t>
            </a:r>
          </a:p>
          <a:p>
            <a:pPr marL="457200" lvl="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ANSI/SPARC stands for American National Standards Institute/Standards Planning and Requirements Committee. </a:t>
            </a:r>
          </a:p>
          <a:p>
            <a:pPr marL="457200" lvl="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It is a three-level database architecture. </a:t>
            </a:r>
          </a:p>
          <a:p>
            <a:pPr marL="457200" lvl="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It separates user views from physical storage. </a:t>
            </a:r>
          </a:p>
          <a:p>
            <a:pPr marL="457200" lvl="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It provides data abstraction. </a:t>
            </a:r>
          </a:p>
          <a:p>
            <a:pPr marL="457200" lvl="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It improves database security and flexibility.</a:t>
            </a:r>
          </a:p>
          <a:p>
            <a:pPr algn="l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1947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D1932-BD93-C93B-163C-CD2DD619A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External Level (View Level)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91F93-0A12-D27A-F1B2-645D4C9D5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Highest level of the architecture. </a:t>
            </a:r>
          </a:p>
          <a:p>
            <a:pPr lvl="0"/>
            <a:r>
              <a:rPr lang="en-IN" dirty="0"/>
              <a:t>Shows only the data required by individual users. </a:t>
            </a:r>
          </a:p>
          <a:p>
            <a:pPr lvl="0"/>
            <a:r>
              <a:rPr lang="en-IN" dirty="0"/>
              <a:t>Different users can have different views. </a:t>
            </a:r>
          </a:p>
          <a:p>
            <a:pPr lvl="0"/>
            <a:r>
              <a:rPr lang="en-IN" dirty="0"/>
              <a:t>Hides unnecessary information. </a:t>
            </a:r>
          </a:p>
          <a:p>
            <a:pPr lvl="0"/>
            <a:r>
              <a:rPr lang="en-IN" b="1" dirty="0"/>
              <a:t>Example:</a:t>
            </a:r>
            <a:r>
              <a:rPr lang="en-IN" dirty="0"/>
              <a:t> A student can view only marks, while a librarian can view book details.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7770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5D962-72D4-BEE9-128E-9EF78B61D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Conceptual Level (Logical Level)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DC7D2-668D-ADD4-561E-EE3E141B1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Internal Level (Physical Level)</a:t>
            </a:r>
          </a:p>
          <a:p>
            <a:pPr lvl="0"/>
            <a:r>
              <a:rPr lang="en-IN" dirty="0"/>
              <a:t>Lowest level of the architecture. </a:t>
            </a:r>
          </a:p>
          <a:p>
            <a:pPr lvl="0"/>
            <a:r>
              <a:rPr lang="en-IN" dirty="0"/>
              <a:t>Describes how data is stored on disk. </a:t>
            </a:r>
          </a:p>
          <a:p>
            <a:pPr lvl="0"/>
            <a:r>
              <a:rPr lang="en-IN" dirty="0"/>
              <a:t>Includes indexing, hashing, and file organization. </a:t>
            </a:r>
          </a:p>
          <a:p>
            <a:pPr lvl="0"/>
            <a:r>
              <a:rPr lang="en-IN" dirty="0"/>
              <a:t>Focuses on storage efficiency. </a:t>
            </a:r>
          </a:p>
          <a:p>
            <a:pPr lvl="0"/>
            <a:r>
              <a:rPr lang="en-IN" b="1" dirty="0"/>
              <a:t>Example:</a:t>
            </a:r>
            <a:r>
              <a:rPr lang="en-IN" dirty="0"/>
              <a:t> Data stored in hard disk blocks using B+ tree indexing.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879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6D13C-F9B9-DF08-CF89-E418D1484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Internal Level (Physical Level)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FFBD9-4EF7-91DA-F7B6-2F6E8543A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50000"/>
              </a:lnSpc>
            </a:pPr>
            <a:r>
              <a:rPr lang="en-IN" dirty="0"/>
              <a:t>Lowest level of the architecture. 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Describes how data is stored on disk. 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Includes indexing, hashing, and file organization. 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Focuses on storage efficiency. 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Example</a:t>
            </a:r>
            <a:r>
              <a:rPr lang="en-IN" b="1" dirty="0"/>
              <a:t>:</a:t>
            </a:r>
            <a:r>
              <a:rPr lang="en-IN" dirty="0"/>
              <a:t> Data stored in hard disk blocks using B+ tree indexing.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8929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1A5F6-A15D-EC6E-3C59-F76D232D6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30797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/>
              <a:t>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F90D1-31EC-D6AF-D5AC-A5CE973CB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9456" y="1853057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           Users</a:t>
            </a:r>
          </a:p>
          <a:p>
            <a:pPr marL="0" indent="0">
              <a:buNone/>
            </a:pPr>
            <a:r>
              <a:rPr lang="en-US" dirty="0"/>
              <a:t>               │</a:t>
            </a:r>
          </a:p>
          <a:p>
            <a:pPr marL="0" indent="0">
              <a:buNone/>
            </a:pPr>
            <a:r>
              <a:rPr lang="en-US" dirty="0"/>
              <a:t>       External Level</a:t>
            </a:r>
          </a:p>
          <a:p>
            <a:pPr marL="0" indent="0">
              <a:buNone/>
            </a:pPr>
            <a:r>
              <a:rPr lang="en-US" dirty="0"/>
              <a:t>               │</a:t>
            </a:r>
          </a:p>
          <a:p>
            <a:pPr marL="0" indent="0">
              <a:buNone/>
            </a:pPr>
            <a:r>
              <a:rPr lang="en-US" dirty="0"/>
              <a:t>      Conceptual Level</a:t>
            </a:r>
          </a:p>
          <a:p>
            <a:pPr marL="0" indent="0">
              <a:buNone/>
            </a:pPr>
            <a:r>
              <a:rPr lang="en-US" dirty="0"/>
              <a:t>               │</a:t>
            </a:r>
          </a:p>
          <a:p>
            <a:pPr marL="0" indent="0">
              <a:buNone/>
            </a:pPr>
            <a:r>
              <a:rPr lang="en-US" dirty="0"/>
              <a:t>       Internal Level</a:t>
            </a:r>
          </a:p>
          <a:p>
            <a:pPr marL="0" indent="0">
              <a:buNone/>
            </a:pPr>
            <a:r>
              <a:rPr lang="en-US" dirty="0"/>
              <a:t>               │</a:t>
            </a:r>
          </a:p>
          <a:p>
            <a:pPr marL="0" indent="0">
              <a:buNone/>
            </a:pPr>
            <a:r>
              <a:rPr lang="en-US" dirty="0"/>
              <a:t>      Physical Storage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3AA07F-7E1F-D0ED-94CB-2BCF71283AA2}"/>
              </a:ext>
            </a:extLst>
          </p:cNvPr>
          <p:cNvSpPr/>
          <p:nvPr/>
        </p:nvSpPr>
        <p:spPr>
          <a:xfrm>
            <a:off x="4105275" y="1720850"/>
            <a:ext cx="3667125" cy="48387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A48ACC-D037-B94C-67D3-A807A8A38D00}"/>
              </a:ext>
            </a:extLst>
          </p:cNvPr>
          <p:cNvSpPr/>
          <p:nvPr/>
        </p:nvSpPr>
        <p:spPr>
          <a:xfrm>
            <a:off x="4029456" y="1524000"/>
            <a:ext cx="3409569" cy="48387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870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B0514-210B-45FE-65A2-6BCE3BBC3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and Practical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CB77F-5D02-A8B7-A8DD-C08C699E5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Provides logical and physical data independence. </a:t>
            </a:r>
          </a:p>
          <a:p>
            <a:pPr lvl="0"/>
            <a:r>
              <a:rPr lang="en-IN" dirty="0"/>
              <a:t>Improves database security. </a:t>
            </a:r>
          </a:p>
          <a:p>
            <a:pPr lvl="0"/>
            <a:r>
              <a:rPr lang="en-IN" dirty="0"/>
              <a:t>Supports multiple user views. </a:t>
            </a:r>
          </a:p>
          <a:p>
            <a:pPr lvl="0"/>
            <a:r>
              <a:rPr lang="en-IN" dirty="0"/>
              <a:t>Simplifies database maintenance. </a:t>
            </a:r>
          </a:p>
          <a:p>
            <a:pPr lvl="0"/>
            <a:r>
              <a:rPr lang="en-IN" dirty="0"/>
              <a:t>Used in banking, hospitals, universities, and e-commerce systems.</a:t>
            </a:r>
          </a:p>
        </p:txBody>
      </p:sp>
    </p:spTree>
    <p:extLst>
      <p:ext uri="{BB962C8B-B14F-4D97-AF65-F5344CB8AC3E}">
        <p14:creationId xmlns:p14="http://schemas.microsoft.com/office/powerpoint/2010/main" val="4160102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278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3. Deliver a presentation explaining the three-level ANSI/SPARC architecture using diagrams and practical examples.</vt:lpstr>
      <vt:lpstr>External Level (View Level)</vt:lpstr>
      <vt:lpstr>Conceptual Level (Logical Level)</vt:lpstr>
      <vt:lpstr>Internal Level (Physical Level)</vt:lpstr>
      <vt:lpstr>DIAGRAM</vt:lpstr>
      <vt:lpstr>Advantages and Practical Applications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vaishnavi j v</dc:creator>
  <cp:lastModifiedBy>vaishnavi j v</cp:lastModifiedBy>
  <cp:revision>1</cp:revision>
  <dcterms:created xsi:type="dcterms:W3CDTF">2026-08-02T05:57:32Z</dcterms:created>
  <dcterms:modified xsi:type="dcterms:W3CDTF">2026-08-02T06:01:42Z</dcterms:modified>
</cp:coreProperties>
</file>